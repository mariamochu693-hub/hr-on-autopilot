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94360"/>
            <a:ext cx="1828800" cy="329184"/>
          </a:xfrm>
          <a:prstGeom prst="roundRect">
            <a:avLst/>
          </a:prstGeom>
          <a:solidFill>
            <a:srgbClr val="1B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1F7F3"/>
                </a:solidFill>
                <a:latin typeface="Aptos"/>
              </a:rPr>
              <a:t>3MTT •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406"/>
            <a:ext cx="804672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HR-on-Autopilot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2834"/>
            <a:ext cx="81381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HR Policy </a:t>
            </a:r>
            <a:r>
              <a:rPr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5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sz="1500" b="1" dirty="0" smtClean="0">
                <a:solidFill>
                  <a:srgbClr val="FFFFFF"/>
                </a:solidFill>
                <a:latin typeface="Aptos"/>
              </a:rPr>
              <a:t>: </a:t>
            </a:r>
            <a:r>
              <a:rPr sz="1500" b="1" dirty="0" smtClean="0">
                <a:solidFill>
                  <a:srgbClr val="FFFFFF"/>
                </a:solidFill>
                <a:latin typeface="Aptos"/>
              </a:rPr>
              <a:t>Ochu 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Mariam </a:t>
            </a:r>
            <a:r>
              <a:rPr sz="1500" b="1" dirty="0" smtClean="0">
                <a:solidFill>
                  <a:srgbClr val="FFFFFF"/>
                </a:solidFill>
                <a:latin typeface="Aptos"/>
              </a:rPr>
              <a:t>Onyino</a:t>
            </a:r>
            <a:r>
              <a:rPr lang="en-US" sz="1500" b="1" dirty="0">
                <a:solidFill>
                  <a:srgbClr val="FFFFFF"/>
                </a:solidFill>
                <a:latin typeface="Aptos"/>
              </a:rPr>
              <a:t>y</a:t>
            </a:r>
            <a:r>
              <a:rPr sz="1500" b="1" dirty="0" smtClean="0">
                <a:solidFill>
                  <a:srgbClr val="FFFFFF"/>
                </a:solidFill>
                <a:latin typeface="Aptos"/>
              </a:rPr>
              <a:t>i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4322099"/>
            <a:ext cx="50292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B9CC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Mentor: Eldad Akhaumere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81728"/>
            <a:ext cx="6217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9CCDC"/>
                </a:solidFill>
                <a:latin typeface="Aptos"/>
              </a:rPr>
              <a:t>GenAI Track • Dify No-Code Edition •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97688"/>
            <a:ext cx="53035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 smtClean="0">
                <a:solidFill>
                  <a:srgbClr val="A0B6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sz="1400" b="0" dirty="0" smtClean="0">
                <a:solidFill>
                  <a:srgbClr val="A0B6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Members</a:t>
            </a:r>
            <a:r>
              <a:rPr sz="1400" b="0" dirty="0" smtClean="0">
                <a:solidFill>
                  <a:srgbClr val="A0B6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b="0" dirty="0" smtClean="0">
                <a:solidFill>
                  <a:srgbClr val="A0B6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Obidah Abalis, Verse Vitalis and Aminu Saminu</a:t>
            </a:r>
            <a:r>
              <a:rPr sz="1400" b="0" dirty="0" smtClean="0">
                <a:solidFill>
                  <a:srgbClr val="A0B6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400" b="0" dirty="0">
              <a:solidFill>
                <a:srgbClr val="A0B6C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18F80"/>
                </a:solidFill>
                <a:latin typeface="Aptos"/>
              </a:rPr>
              <a:t>01 •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F36"/>
                </a:solidFill>
                <a:latin typeface="Aptos Display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C6A7A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0749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73152" cy="4343400"/>
          </a:xfrm>
          <a:prstGeom prst="rect">
            <a:avLst/>
          </a:prstGeom>
          <a:solidFill>
            <a:srgbClr val="EE8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F36"/>
                </a:solidFill>
                <a:latin typeface="Aptos"/>
              </a:rPr>
              <a:t>The problem</a:t>
            </a:r>
          </a:p>
          <a:p>
            <a:pPr>
              <a:spcBef>
                <a:spcPts val="600"/>
              </a:spcBef>
              <a:defRPr sz="1400">
                <a:solidFill>
                  <a:srgbClr val="1E252E"/>
                </a:solidFill>
                <a:latin typeface="Aptos"/>
              </a:defRPr>
            </a:pPr>
            <a:r>
              <a:t>• HR policy handbooks are information-dense and often require manual searching.</a:t>
            </a:r>
          </a:p>
          <a:p>
            <a:pPr>
              <a:spcBef>
                <a:spcPts val="600"/>
              </a:spcBef>
              <a:defRPr sz="1400">
                <a:solidFill>
                  <a:srgbClr val="1E252E"/>
                </a:solidFill>
                <a:latin typeface="Aptos"/>
              </a:defRPr>
            </a:pPr>
            <a:r>
              <a:t>• Employees may need quick answers on leave, working hours, benefits, conduct and procedures.</a:t>
            </a:r>
          </a:p>
          <a:p>
            <a:pPr>
              <a:spcBef>
                <a:spcPts val="600"/>
              </a:spcBef>
              <a:defRPr sz="1400">
                <a:solidFill>
                  <a:srgbClr val="1E252E"/>
                </a:solidFill>
                <a:latin typeface="Aptos"/>
              </a:defRPr>
            </a:pPr>
            <a:r>
              <a:t>• Generic AI can answer from outside knowledge — a risk when policy accuracy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48132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F1F36"/>
                </a:solidFill>
                <a:latin typeface="Aptos"/>
              </a:rPr>
              <a:t>A better employee experience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2057400"/>
            <a:ext cx="438912" cy="438912"/>
          </a:xfrm>
          <a:prstGeom prst="ellipse">
            <a:avLst/>
          </a:prstGeom>
          <a:solidFill>
            <a:srgbClr val="EE8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2066543"/>
            <a:ext cx="43891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039112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52E"/>
                </a:solidFill>
                <a:latin typeface="Aptos"/>
              </a:rPr>
              <a:t>Employee has a policy question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45936" y="2496312"/>
            <a:ext cx="0" cy="457200"/>
          </a:xfrm>
          <a:prstGeom prst="line">
            <a:avLst/>
          </a:prstGeom>
          <a:ln w="1905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126480" y="3017520"/>
            <a:ext cx="438912" cy="438912"/>
          </a:xfrm>
          <a:prstGeom prst="ellipse">
            <a:avLst/>
          </a:prstGeom>
          <a:solidFill>
            <a:srgbClr val="1F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3026663"/>
            <a:ext cx="43891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99232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52E"/>
                </a:solidFill>
                <a:latin typeface="Aptos"/>
              </a:rPr>
              <a:t>Searches a long handbook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45936" y="3456432"/>
            <a:ext cx="0" cy="457199"/>
          </a:xfrm>
          <a:prstGeom prst="line">
            <a:avLst/>
          </a:prstGeom>
          <a:ln w="1905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126480" y="3977639"/>
            <a:ext cx="438912" cy="438912"/>
          </a:xfrm>
          <a:prstGeom prst="ellipse">
            <a:avLst/>
          </a:prstGeom>
          <a:solidFill>
            <a:srgbClr val="11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3986783"/>
            <a:ext cx="43891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959352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52E"/>
                </a:solidFill>
                <a:latin typeface="Aptos"/>
              </a:rPr>
              <a:t>Finds / interprets the relevant rule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5138928"/>
            <a:ext cx="4114800" cy="420624"/>
          </a:xfrm>
          <a:prstGeom prst="roundRect">
            <a:avLst/>
          </a:prstGeom>
          <a:solidFill>
            <a:srgbClr val="E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8F80"/>
                </a:solidFill>
                <a:latin typeface="Aptos"/>
              </a:rPr>
              <a:t>Goal: faster, grounded policy 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73952"/>
            <a:ext cx="10881360" cy="9144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A7A"/>
                </a:solidFill>
                <a:latin typeface="Aptos"/>
              </a:rPr>
              <a:t>3MTT × WESOnline • GenAI Track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18F80"/>
                </a:solidFill>
                <a:latin typeface="Aptos"/>
              </a:rPr>
              <a:t>02 •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F36"/>
                </a:solidFill>
                <a:latin typeface="Aptos Display"/>
              </a:rPr>
              <a:t>Project Overview /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C6A7A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/>
              <a:t>HR-on-Autopilot is an AI-powered HR Policy Chatbot that answers questions using the approved handbook as its source of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0280"/>
            <a:ext cx="3383280" cy="2423160"/>
          </a:xfrm>
          <a:prstGeom prst="roundRect">
            <a:avLst/>
          </a:prstGeom>
          <a:solidFill>
            <a:srgbClr val="F6F8FB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2487168"/>
            <a:ext cx="1051560" cy="310896"/>
          </a:xfrm>
          <a:prstGeom prst="roundRect">
            <a:avLst/>
          </a:prstGeom>
          <a:solidFill>
            <a:srgbClr val="EB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5B9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7180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F36"/>
                </a:solidFill>
                <a:latin typeface="Aptos"/>
              </a:rPr>
              <a:t>Ask naturally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56432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A7A"/>
                </a:solidFill>
                <a:latin typeface="Aptos"/>
              </a:rPr>
              <a:t>Employees ask policy questions in plain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240280"/>
            <a:ext cx="3383280" cy="2423160"/>
          </a:xfrm>
          <a:prstGeom prst="roundRect">
            <a:avLst/>
          </a:prstGeom>
          <a:solidFill>
            <a:srgbClr val="F6F8FB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2855" y="2487168"/>
            <a:ext cx="1051560" cy="310896"/>
          </a:xfrm>
          <a:prstGeom prst="roundRect">
            <a:avLst/>
          </a:prstGeom>
          <a:solidFill>
            <a:srgbClr val="EB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8F8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97180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F36"/>
                </a:solidFill>
                <a:latin typeface="Aptos"/>
              </a:rPr>
              <a:t>Retrieve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456432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5C6A7A"/>
                </a:solidFill>
                <a:latin typeface="Aptos"/>
              </a:rPr>
              <a:t>Dify</a:t>
            </a:r>
            <a:r>
              <a:rPr sz="1200" b="0" dirty="0">
                <a:solidFill>
                  <a:srgbClr val="5C6A7A"/>
                </a:solidFill>
                <a:latin typeface="Aptos"/>
              </a:rPr>
              <a:t> searches the HR Knowledge Base for relevant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240280"/>
            <a:ext cx="3383280" cy="2423160"/>
          </a:xfrm>
          <a:prstGeom prst="roundRect">
            <a:avLst/>
          </a:prstGeom>
          <a:solidFill>
            <a:srgbClr val="F6F8FB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66176" y="2487168"/>
            <a:ext cx="1051560" cy="310896"/>
          </a:xfrm>
          <a:prstGeom prst="roundRect">
            <a:avLst/>
          </a:prstGeom>
          <a:solidFill>
            <a:srgbClr val="EB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E8F3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97180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F36"/>
                </a:solidFill>
                <a:latin typeface="Aptos"/>
              </a:rPr>
              <a:t>Respond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3456432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A7A"/>
                </a:solidFill>
                <a:latin typeface="Aptos"/>
              </a:rPr>
              <a:t>The LLM answers from retrieved policy context and refuses unsupported questions.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16636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18F80"/>
                </a:solidFill>
                <a:latin typeface="Aptos"/>
              </a:rPr>
              <a:t>Core AI concept: Retrieval-Augmented Generation (RAG) — retrieve relevant policy content first, then generate a grounded answer.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473952"/>
            <a:ext cx="10881360" cy="9144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A7A"/>
                </a:solidFill>
                <a:latin typeface="Aptos"/>
              </a:rPr>
              <a:t>3MTT × WESOnline • GenAI Track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18F80"/>
                </a:solidFill>
                <a:latin typeface="Aptos"/>
              </a:rPr>
              <a:t>03 •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F36"/>
                </a:solidFill>
                <a:latin typeface="Aptos Display"/>
              </a:rPr>
              <a:t>Tools &amp;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C6A7A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212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1536192"/>
            <a:ext cx="1234440" cy="310896"/>
          </a:xfrm>
          <a:prstGeom prst="roundRect">
            <a:avLst/>
          </a:prstGeom>
          <a:solidFill>
            <a:srgbClr val="E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8F80"/>
                </a:solidFill>
                <a:latin typeface="Aptos"/>
              </a:rPr>
              <a:t>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35607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252E"/>
                </a:solidFill>
                <a:latin typeface="Aptos"/>
              </a:rPr>
              <a:t>No-code AI application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04872"/>
            <a:ext cx="5212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2615184"/>
            <a:ext cx="1234440" cy="310896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5B94"/>
                </a:solidFill>
                <a:latin typeface="Aptos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1460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252E"/>
                </a:solidFill>
                <a:latin typeface="Aptos"/>
              </a:rPr>
              <a:t>Llama 3.1 8B Instant (configured in Dify)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83863"/>
            <a:ext cx="5212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" y="3694176"/>
            <a:ext cx="1234440" cy="310896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E8F3F"/>
                </a:solidFill>
                <a:latin typeface="Aptos"/>
              </a:rPr>
              <a:t>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593591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252E"/>
                </a:solidFill>
                <a:latin typeface="Aptos"/>
              </a:rPr>
              <a:t>BridgeAfrica Foundation Staff HR Policy Handbook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62856"/>
            <a:ext cx="5212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4773168"/>
            <a:ext cx="1234440" cy="310896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B8A68"/>
                </a:solidFill>
                <a:latin typeface="Aptos"/>
              </a:rPr>
              <a:t>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672584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E252E"/>
                </a:solidFill>
                <a:latin typeface="Aptos"/>
              </a:rPr>
              <a:t>Retrieval-Augmented Generation for grounded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32588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F36"/>
                </a:solidFill>
                <a:latin typeface="Aptos"/>
              </a:rPr>
              <a:t>Dify components 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384048" cy="310896"/>
          </a:xfrm>
          <a:prstGeom prst="roundRect">
            <a:avLst/>
          </a:prstGeom>
          <a:solidFill>
            <a:srgbClr val="EB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8F80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819656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 err="1"/>
              <a:t>Dify</a:t>
            </a:r>
            <a:r>
              <a:rPr dirty="0"/>
              <a:t> </a:t>
            </a:r>
            <a:r>
              <a:rPr dirty="0" err="1"/>
              <a:t>Chatflow</a:t>
            </a:r>
            <a:r>
              <a:rPr dirty="0"/>
              <a:t> — powers the </a:t>
            </a:r>
            <a:r>
              <a:rPr dirty="0" err="1"/>
              <a:t>chatbot</a:t>
            </a:r>
            <a:r>
              <a:rPr dirty="0"/>
              <a:t>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87168"/>
            <a:ext cx="384048" cy="310896"/>
          </a:xfrm>
          <a:prstGeom prst="roundRect">
            <a:avLst/>
          </a:prstGeom>
          <a:solidFill>
            <a:srgbClr val="EB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8F80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78024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t>HR Knowledge Base + document retrieval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145536"/>
            <a:ext cx="384048" cy="310896"/>
          </a:xfrm>
          <a:prstGeom prst="roundRect">
            <a:avLst/>
          </a:prstGeom>
          <a:solidFill>
            <a:srgbClr val="EB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8F80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36392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/>
              <a:t>Policy-only </a:t>
            </a:r>
            <a:r>
              <a:rPr dirty="0" smtClean="0"/>
              <a:t>instructions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309360" y="3803904"/>
            <a:ext cx="384048" cy="310896"/>
          </a:xfrm>
          <a:prstGeom prst="roundRect">
            <a:avLst/>
          </a:prstGeom>
          <a:solidFill>
            <a:srgbClr val="EB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8F80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794760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/>
              <a:t>Preview, </a:t>
            </a:r>
            <a:r>
              <a:rPr lang="en-US" dirty="0" smtClean="0"/>
              <a:t>and </a:t>
            </a:r>
            <a:r>
              <a:rPr dirty="0" smtClean="0"/>
              <a:t>live </a:t>
            </a:r>
            <a:r>
              <a:rPr dirty="0"/>
              <a:t>testing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462272"/>
            <a:ext cx="384048" cy="310896"/>
          </a:xfrm>
          <a:prstGeom prst="roundRect">
            <a:avLst/>
          </a:prstGeom>
          <a:solidFill>
            <a:srgbClr val="EB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8F80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53128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/>
              <a:t>Publish the </a:t>
            </a:r>
            <a:r>
              <a:rPr dirty="0" err="1"/>
              <a:t>chatbot</a:t>
            </a:r>
            <a:r>
              <a:rPr dirty="0"/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473952"/>
            <a:ext cx="10881360" cy="9144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A7A"/>
                </a:solidFill>
                <a:latin typeface="Aptos"/>
              </a:rPr>
              <a:t>3MTT × WESOnline • GenAI Track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18F80"/>
                </a:solidFill>
                <a:latin typeface="Aptos"/>
              </a:rPr>
              <a:t>04 •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Chatbot Workflow — </a:t>
            </a:r>
            <a:r>
              <a:rPr dirty="0" err="1"/>
              <a:t>Dify</a:t>
            </a:r>
            <a:r>
              <a:rPr dirty="0"/>
              <a:t> </a:t>
            </a:r>
            <a:r>
              <a:rPr dirty="0" err="1"/>
              <a:t>Chatflow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C6A7A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182862"/>
            <a:ext cx="105156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/>
              <a:t>Knowledge Base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59552"/>
            <a:ext cx="1874519" cy="384048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6E64"/>
                </a:solidFill>
                <a:latin typeface="Aptos"/>
              </a:rPr>
              <a:t>PDF policy uploaded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98063" y="5559552"/>
            <a:ext cx="1874519" cy="384048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6E64"/>
                </a:solidFill>
                <a:latin typeface="Aptos"/>
              </a:rPr>
              <a:t>Default chunking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59" y="5559552"/>
            <a:ext cx="1874519" cy="384048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6E64"/>
                </a:solidFill>
                <a:latin typeface="Aptos"/>
              </a:rPr>
              <a:t>Connected to Dify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77455" y="5559552"/>
            <a:ext cx="1874519" cy="384048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6E64"/>
                </a:solidFill>
              </a:rPr>
              <a:t>Policy-only prompt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7152" y="5559552"/>
            <a:ext cx="1874519" cy="384048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6E64"/>
                </a:solidFill>
                <a:latin typeface="Aptos"/>
              </a:rPr>
              <a:t>Test → refine → publish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6473952"/>
            <a:ext cx="10881360" cy="9144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A7A"/>
                </a:solidFill>
                <a:latin typeface="Aptos"/>
              </a:rPr>
              <a:t>3MTT × WESOnline • GenAI Track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1874519"/>
            <a:ext cx="214884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32104" y="2020824"/>
            <a:ext cx="164592" cy="164592"/>
          </a:xfrm>
          <a:prstGeom prst="ellipse">
            <a:avLst/>
          </a:prstGeom>
          <a:solidFill>
            <a:srgbClr val="1F5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8992" y="197510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41C26"/>
                </a:solidFill>
              </a:defRPr>
            </a:pPr>
            <a:r>
              <a:t>USER INPUT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2313432"/>
            <a:ext cx="181965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9">
                <a:solidFill>
                  <a:srgbClr val="46505C"/>
                </a:solidFill>
              </a:defRPr>
            </a:pPr>
            <a:r>
              <a:rPr dirty="0"/>
              <a:t>Employee submits an HR policy question.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93008" y="1874519"/>
            <a:ext cx="214884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639312" y="2020824"/>
            <a:ext cx="164592" cy="164592"/>
          </a:xfrm>
          <a:prstGeom prst="ellipse">
            <a:avLst/>
          </a:prstGeom>
          <a:solidFill>
            <a:srgbClr val="178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86200" y="197510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41C26"/>
                </a:solidFill>
              </a:defRPr>
            </a:pPr>
            <a:r>
              <a:t>KNOWLEDGE RETRIEVAL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2313432"/>
            <a:ext cx="181965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9">
                <a:solidFill>
                  <a:srgbClr val="46505C"/>
                </a:solidFill>
              </a:defRPr>
            </a:pPr>
            <a:r>
              <a:t>Searches the HR Knowledge Base for relevant policy content.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0216" y="1874519"/>
            <a:ext cx="214884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446520" y="2020824"/>
            <a:ext cx="164592" cy="164592"/>
          </a:xfrm>
          <a:prstGeom prst="ellipse">
            <a:avLst/>
          </a:prstGeom>
          <a:solidFill>
            <a:srgbClr val="178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93407" y="197510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41C26"/>
                </a:solidFill>
              </a:defRPr>
            </a:pPr>
            <a:r>
              <a:t>LLM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7" y="2313432"/>
            <a:ext cx="181965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9">
                <a:solidFill>
                  <a:srgbClr val="46505C"/>
                </a:solidFill>
              </a:defRPr>
            </a:pPr>
            <a:r>
              <a:rPr dirty="0"/>
              <a:t>Generates a response using the retrieved policy context.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07424" y="1874519"/>
            <a:ext cx="214884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253728" y="2020824"/>
            <a:ext cx="164592" cy="164592"/>
          </a:xfrm>
          <a:prstGeom prst="ellipse">
            <a:avLst/>
          </a:prstGeom>
          <a:solidFill>
            <a:srgbClr val="1F5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00616" y="197510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41C26"/>
                </a:solidFill>
              </a:defRPr>
            </a:pPr>
            <a:r>
              <a:t>ANSWER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72016" y="2313432"/>
            <a:ext cx="181965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9">
                <a:solidFill>
                  <a:srgbClr val="46505C"/>
                </a:solidFill>
              </a:defRPr>
            </a:pPr>
            <a:r>
              <a:rPr dirty="0"/>
              <a:t>Returns the response to the employee.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834640" y="2478024"/>
            <a:ext cx="658368" cy="0"/>
          </a:xfrm>
          <a:prstGeom prst="line">
            <a:avLst/>
          </a:prstGeom>
          <a:ln w="19050">
            <a:solidFill>
              <a:srgbClr val="677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641848" y="2478024"/>
            <a:ext cx="658368" cy="0"/>
          </a:xfrm>
          <a:prstGeom prst="line">
            <a:avLst/>
          </a:prstGeom>
          <a:ln w="19050">
            <a:solidFill>
              <a:srgbClr val="677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449056" y="2478024"/>
            <a:ext cx="658368" cy="0"/>
          </a:xfrm>
          <a:prstGeom prst="line">
            <a:avLst/>
          </a:prstGeom>
          <a:ln w="19050">
            <a:solidFill>
              <a:srgbClr val="677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18F80"/>
                </a:solidFill>
                <a:latin typeface="Aptos"/>
              </a:rPr>
              <a:t>05 •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Live Demonstration — HR-on-Autopilot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C6A7A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6537960" cy="4526280"/>
          </a:xfrm>
          <a:prstGeom prst="roundRect">
            <a:avLst/>
          </a:prstGeom>
          <a:solidFill>
            <a:srgbClr val="F6F8FB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27632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18F80"/>
                </a:solidFill>
                <a:latin typeface="Aptos"/>
              </a:rPr>
              <a:t>LIVE TEST 01  •  IN-SCOPE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715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F1F36"/>
                </a:solidFill>
                <a:latin typeface="Aptos"/>
              </a:rPr>
              <a:t>“How many days of paid annual leave are full-time permanent staff entitled to?”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697480"/>
            <a:ext cx="1920240" cy="384048"/>
          </a:xfrm>
          <a:prstGeom prst="roundRect">
            <a:avLst/>
          </a:prstGeom>
          <a:solidFill>
            <a:srgbClr val="E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B8A68"/>
                </a:solidFill>
                <a:latin typeface="Aptos"/>
              </a:rPr>
              <a:t>Expected: 21 working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10128"/>
            <a:ext cx="5669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/>
              <a:t>Shows the </a:t>
            </a:r>
            <a:r>
              <a:rPr dirty="0" err="1"/>
              <a:t>chatbot</a:t>
            </a:r>
            <a:r>
              <a:rPr dirty="0"/>
              <a:t> retrieving relevant policy information.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977639"/>
            <a:ext cx="5669280" cy="9144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251960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E4A4A"/>
                </a:solidFill>
                <a:latin typeface="Aptos"/>
              </a:rPr>
              <a:t>LIVE TEST 02  •  OUT-OF-SCOPE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617720"/>
            <a:ext cx="5715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F1F36"/>
                </a:solidFill>
                <a:latin typeface="Aptos"/>
              </a:rPr>
              <a:t>“Who is the current President of Nigeria?”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5321808"/>
            <a:ext cx="3337560" cy="384048"/>
          </a:xfrm>
          <a:prstGeom prst="roundRect">
            <a:avLst/>
          </a:prstGeom>
          <a:solidFill>
            <a:srgbClr val="FC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BE3C41"/>
                </a:solidFill>
              </a:rPr>
              <a:t>Expected: policy-bound refusal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44475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F36"/>
                </a:solidFill>
                <a:latin typeface="Aptos"/>
              </a:rPr>
              <a:t>What the demo proves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2057400"/>
            <a:ext cx="438912" cy="329184"/>
          </a:xfrm>
          <a:prstGeom prst="round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B8A68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020824"/>
            <a:ext cx="3154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F36"/>
                </a:solidFill>
                <a:latin typeface="Aptos"/>
              </a:rPr>
              <a:t>Grounded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350008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A7A"/>
                </a:solidFill>
                <a:latin typeface="Aptos"/>
              </a:rPr>
              <a:t>Relevant policy content is retrieved.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3108960"/>
            <a:ext cx="438912" cy="329184"/>
          </a:xfrm>
          <a:prstGeom prst="round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E4A4A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072384"/>
            <a:ext cx="3154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F36"/>
                </a:solidFill>
                <a:latin typeface="Aptos"/>
              </a:rPr>
              <a:t>Scope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01568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A7A"/>
                </a:solidFill>
                <a:latin typeface="Aptos"/>
              </a:rPr>
              <a:t>No unsupported outside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4160520"/>
            <a:ext cx="438912" cy="329184"/>
          </a:xfrm>
          <a:prstGeom prst="round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F5B94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123944"/>
            <a:ext cx="3154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F36"/>
                </a:solidFill>
                <a:latin typeface="Aptos"/>
              </a:rPr>
              <a:t>Usable 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453128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A7A"/>
                </a:solidFill>
                <a:latin typeface="Aptos"/>
              </a:rPr>
              <a:t>Questions can be asked conversationally.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73952"/>
            <a:ext cx="10881360" cy="9144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220695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3MTT × </a:t>
            </a:r>
            <a:r>
              <a:rPr dirty="0" err="1"/>
              <a:t>WESOnline</a:t>
            </a:r>
            <a:r>
              <a:rPr dirty="0"/>
              <a:t> •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18F80"/>
                </a:solidFill>
                <a:latin typeface="Aptos"/>
              </a:rPr>
              <a:t>06 •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605165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 smtClean="0">
                <a:solidFill>
                  <a:srgbClr val="0F1F36"/>
                </a:solidFill>
                <a:latin typeface="Aptos Display"/>
              </a:rPr>
              <a:t>Conclusion</a:t>
            </a:r>
            <a:r>
              <a:rPr lang="en-US" sz="2700" b="1" dirty="0">
                <a:solidFill>
                  <a:srgbClr val="0F1F36"/>
                </a:solidFill>
                <a:latin typeface="Aptos Display"/>
              </a:rPr>
              <a:t> </a:t>
            </a:r>
            <a:r>
              <a:rPr sz="2700" b="1" dirty="0" smtClean="0">
                <a:solidFill>
                  <a:srgbClr val="0F1F36"/>
                </a:solidFill>
                <a:latin typeface="Aptos Display"/>
              </a:rPr>
              <a:t>&amp; </a:t>
            </a:r>
            <a:r>
              <a:rPr sz="2700" b="1" dirty="0">
                <a:solidFill>
                  <a:srgbClr val="0F1F36"/>
                </a:solidFill>
                <a:latin typeface="Aptos Display"/>
              </a:rPr>
              <a:t>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C6A7A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01568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73152" cy="4160520"/>
          </a:xfrm>
          <a:prstGeom prst="rect">
            <a:avLst/>
          </a:prstGeom>
          <a:solidFill>
            <a:srgbClr val="2B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299008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F36"/>
                </a:solidFill>
                <a:latin typeface="Aptos"/>
              </a:rPr>
              <a:t>What we achieved</a:t>
            </a:r>
          </a:p>
          <a:p>
            <a:pPr>
              <a:spcBef>
                <a:spcPts val="600"/>
              </a:spcBef>
              <a:defRPr sz="1200">
                <a:solidFill>
                  <a:srgbClr val="1E252E"/>
                </a:solidFill>
                <a:latin typeface="Aptos"/>
              </a:defRPr>
            </a:pPr>
            <a:r>
              <a:t>• Built a working HR policy assistant in Dify.</a:t>
            </a:r>
          </a:p>
          <a:p>
            <a:pPr>
              <a:spcBef>
                <a:spcPts val="600"/>
              </a:spcBef>
              <a:defRPr sz="1200">
                <a:solidFill>
                  <a:srgbClr val="1E252E"/>
                </a:solidFill>
                <a:latin typeface="Aptos"/>
              </a:defRPr>
            </a:pPr>
            <a:r>
              <a:t>• Connected an HR handbook to a Knowledge Base.</a:t>
            </a:r>
          </a:p>
          <a:p>
            <a:pPr>
              <a:spcBef>
                <a:spcPts val="600"/>
              </a:spcBef>
              <a:defRPr sz="1200">
                <a:solidFill>
                  <a:srgbClr val="1E252E"/>
                </a:solidFill>
                <a:latin typeface="Aptos"/>
              </a:defRPr>
            </a:pPr>
            <a:r>
              <a:t>• Demonstrated grounded and out-of-scope behavior.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417320"/>
            <a:ext cx="73152" cy="4160520"/>
          </a:xfrm>
          <a:prstGeom prst="rect">
            <a:avLst/>
          </a:prstGeom>
          <a:solidFill>
            <a:srgbClr val="EE8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66636" y="1417320"/>
            <a:ext cx="3401568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54572" y="1362456"/>
            <a:ext cx="73152" cy="4160520"/>
          </a:xfrm>
          <a:prstGeom prst="rect">
            <a:avLst/>
          </a:prstGeom>
          <a:solidFill>
            <a:srgbClr val="11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0286" y="1691640"/>
            <a:ext cx="299008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F1F36"/>
                </a:solidFill>
                <a:latin typeface="Aptos"/>
              </a:rPr>
              <a:t>Next steps</a:t>
            </a:r>
          </a:p>
          <a:p>
            <a:pPr>
              <a:spcBef>
                <a:spcPts val="600"/>
              </a:spcBef>
              <a:defRPr sz="1200">
                <a:solidFill>
                  <a:srgbClr val="1E252E"/>
                </a:solidFill>
                <a:latin typeface="Aptos"/>
              </a:defRPr>
            </a:pPr>
            <a:r>
              <a:rPr dirty="0"/>
              <a:t>• Add multiple approved HR policy documents + version control.</a:t>
            </a:r>
          </a:p>
          <a:p>
            <a:pPr>
              <a:spcBef>
                <a:spcPts val="600"/>
              </a:spcBef>
              <a:defRPr sz="1200">
                <a:solidFill>
                  <a:srgbClr val="1E252E"/>
                </a:solidFill>
                <a:latin typeface="Aptos"/>
              </a:defRPr>
            </a:pPr>
            <a:r>
              <a:rPr dirty="0"/>
              <a:t>• Add user feedback for incorrect / unhelpful answers.</a:t>
            </a:r>
          </a:p>
          <a:p>
            <a:pPr>
              <a:spcBef>
                <a:spcPts val="600"/>
              </a:spcBef>
              <a:defRPr sz="1200">
                <a:solidFill>
                  <a:srgbClr val="1E252E"/>
                </a:solidFill>
                <a:latin typeface="Aptos"/>
              </a:defRPr>
            </a:pPr>
            <a:r>
              <a:rPr dirty="0"/>
              <a:t>• Add stronger access control and monitoring for production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473952"/>
            <a:ext cx="10881360" cy="9144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A7A"/>
                </a:solidFill>
                <a:latin typeface="Aptos"/>
              </a:rPr>
              <a:t>3MTT × WESOnline • GenAI Track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549</Words>
  <Application>Microsoft Office PowerPoint</Application>
  <PresentationFormat>Widescreen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Sule Yisa Ochu</cp:lastModifiedBy>
  <cp:revision>15</cp:revision>
  <dcterms:created xsi:type="dcterms:W3CDTF">2013-01-27T09:14:16Z</dcterms:created>
  <dcterms:modified xsi:type="dcterms:W3CDTF">2026-08-15T16:02:37Z</dcterms:modified>
  <cp:category/>
</cp:coreProperties>
</file>